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jury members. Today we introduce Shadow AI Detector — an end-to-end cybersecurity platform that protects enterprises from proprietary code leakage, compliance violations, and unsanctioned generative AI usage in network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security tools are blind to AI workflows. Firewalls see plain port 443 traffic. Our platform bridges this gap with behavioral analytics and Shannon entropy.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6-stage pipeline is engineered for enterprise throughput: we sanitize against OWASP CSV exploits, normalize FQDNs, match against our curated AI catalog, and score risk in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don't guess risk. We calculate it using 4 distinct signals: corporate baseline policy, upload-to-download bandwidth asymmetry, Shannon domain entropy for algorithmic tunnels, and burst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primary Random Forest classifier achieved a 99.88% accuracy and 100% recall on security-review events with a 0.15% false positive rate, ensuring SOC analysts aren't overwhelmed with false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Black-box AI is a liability in cybersecurity. Every alert in our platform provides an itemized score breakdown, observed evidence, missing evidence disclosures, and step-by-step remediation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platform enforces zero-trust onboarding: newly registered analysts cannot access telemetry until an admin approves them. All endpoints are guarded by strict role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3,400 events, our platform accurately isolated 2,552 AI interactions, flagged 1,378 unapproved policy violations, and generated 1,949 prioritized alerts in under one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platform is live in production right now. The frontend runs on Vercel's Edge Network, and the backend is powered by FastAPI on Render with multi-engine relational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console features six dedicated modules — from executive KPI dashboards down to deep event query explorers and live policy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legacy firewalls that only block static IPs or SIEMs that dump noisy logs, we provide built-in AI catalog awareness, mathematical entropy detection, and itemized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Shadow AI Detector transforms enterprise security from reactive fear to proactive governance. Thank you for your time, and we look forward to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CYBERSECURITY &amp; ENTERPRISE RISK MONITORING</a:t>
            </a:r>
          </a:p>
          <a:p>
            <a:pPr>
              <a:spcBef>
                <a:spcPts val="800"/>
              </a:spcBef>
              <a:defRPr sz="3800" b="1">
                <a:solidFill>
                  <a:srgbClr val="0F172A"/>
                </a:solidFill>
              </a:defRPr>
            </a:pPr>
            <a:r>
              <a:t>Shadow AI Detector</a:t>
            </a:r>
          </a:p>
          <a:p>
            <a:pPr>
              <a:spcBef>
                <a:spcPts val="600"/>
              </a:spcBef>
              <a:defRPr sz="1600">
                <a:solidFill>
                  <a:srgbClr val="64748B"/>
                </a:solidFill>
              </a:defRPr>
            </a:pPr>
            <a:r>
              <a:t>AI-Powered Discovery, Zero-Trust Governance &amp; Risk Assessment Platform for Enterprise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08960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🔍 Comprehensive Discovery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Automatic detection of unapproved GenAI services (DeepSeek, ChatGPT, Claude, Midjourney, Cursor) without TLS decryption proxies.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33375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3108960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⚡ Hybrid Risk Intelligence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Combines deterministic corporate policy rules with a 100-tree Random Forest classifier and Shannon entropy domain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3108960"/>
            <a:ext cx="33375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3108960"/>
            <a:ext cx="3337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🛡️ Zero-Trust RBAC &amp; Audit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Bcrypt-12 encrypted credentials, analyst approval workflows, and OWASP formula injection sanitization with NIST AI RMF compliance.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3108960"/>
            <a:ext cx="33375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THE PROBLEM SPACE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The Shadow AI Epidemic in Enterprise Networks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Unmonitored generative AI usage has created the fastest-growing attack surface in cybersecurity.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37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E11D48"/>
                </a:solidFill>
              </a:defRPr>
            </a:pPr>
            <a:r>
              <a:t>78%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Shadow AI Adoption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Employees routinely use consumer LLMs without enterprise IT approval, bypassing data controls.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828800"/>
            <a:ext cx="3337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D97706"/>
                </a:solidFill>
              </a:defRPr>
            </a:pPr>
            <a:r>
              <a:t>40.5%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Policy Violation Rate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Observed in our enterprise benchmark dataset (1,378 unapproved Shadow AI interactions flagged).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828800"/>
            <a:ext cx="3337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$4.8M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Average Breach Impact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Cost of regulatory fines and proprietary source code exfiltration into public model training datasets.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❌ The Traditional Tool Blindspot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Standard firewalls and DNS filters only see generic HTTPS traffic (port 443) and cannot differentiate benign cloud APIs from rogue prompt payload leaks.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516636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91072" y="420624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✅ Our Behavioral Solution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Extracts FQDN metadata, Shannon entropy, bandwidth asymmetry ratios, and connection velocities to score risk with zero payload decryption overhead.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4206240"/>
            <a:ext cx="51663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High-Performance 6-Stage Detection Pipeline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From raw proxy and DNS logs to actionable explainable SOC incident alerts in sub-second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Ingest &amp; Sanitize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OWASP CSV formula injection defense, SHA-256 hash deduplication, streaming batch validator.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29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Domain Normalizer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Punycode conversion, internationalized domain parsing, port and subdomain striping.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828800"/>
            <a:ext cx="3429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Catalog Matcher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Curated multi-pattern wildcard matching against 12+ AI providers vs known non-AI whitelist.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828800"/>
            <a:ext cx="3429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4. Policy Evaluator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Enforces Approved, Unapproved, or Requires Review corporate policies with dynamic risk weights.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3429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5696" y="41148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5. Risk Scoring Engine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Computes 0–100 composite risk score using Shannon entropy, byte ratios, and connection spikes.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4114800"/>
            <a:ext cx="3429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9872" y="41148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6. ML Classifier (XAI)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100-tree Random Forest cross-verification with itemized point explainability and containment.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4114800"/>
            <a:ext cx="34290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ANOMALY MATHEMATICS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Mathematical Formulation &amp; Feature Engineering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Deterministic scoring formulas that eliminate black-box hallucinations.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6636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// 1. Bandwidth Asymmetry Ratio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byte_ratio = bytes_out / (bytes_in + 1.0)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# Detects large prompt exfiltration &amp; code dumps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if bytes_out &gt; 50_000_000 and byte_ratio &gt; 3.0: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 risk_score += 25  # Exfiltration spike</a:t>
            </a:r>
          </a:p>
          <a:p>
            <a:pPr>
              <a:defRPr sz="1100">
                <a:solidFill>
                  <a:srgbClr val="0F172A"/>
                </a:solidFill>
              </a:defRPr>
            </a:pP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// 2. Shannon Domain Entropy Formulation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H(X) = - Σ P(x) · log₂(P(x))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# Flags algorithmic DGA tunnels and proxy evasion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if domain_entropy &gt; 3.8: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 risk_score += 15  # Entropy penalty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828800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🔬 Key Feature Matrix (7 Dimensions)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outbound_mb: Total payload volume uploaded</a:t>
            </a:r>
            <a:br/>
            <a:r>
              <a:t>• inbound_mb: Response data downloaded</a:t>
            </a:r>
            <a:br/>
            <a:r>
              <a:t>• byte_ratio: Upload-to-download data asymmetry ratio</a:t>
            </a:r>
            <a:br/>
            <a:r>
              <a:t>• domain_entropy: Shannon entropy randomness measure</a:t>
            </a:r>
            <a:br/>
            <a:r>
              <a:t>• connection_count: Burst request velocity</a:t>
            </a:r>
            <a:br/>
            <a:r>
              <a:t>• is_ai_service: Curated catalog provider match flag</a:t>
            </a:r>
            <a:br/>
            <a:r>
              <a:t>• policy_risk_weight: Corporate baseline governance weight</a:t>
            </a:r>
            <a:br/>
            <a:br/>
            <a:r>
              <a:t>Composite Formula: R = 0.40·Entropy + 0.35·ExfilRatio + 0.25·ReputationLoss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91072" y="1828800"/>
            <a:ext cx="51663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MACHINE LEARNING RIGOR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Supervised ML Anomaly Benchmark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Empirical performance evaluation on reproducible stratified test split (seed=42).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463040"/>
                <a:gridCol w="1463040"/>
                <a:gridCol w="1463040"/>
                <a:gridCol w="1950415"/>
              </a:tblGrid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False Pos. Rate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Random Forest (100 Trees - Primary)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99.88%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99.78%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0.9989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0.15% (Ultra-Low)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Logistic Regression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94.12%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93.40%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96.20%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0.9478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11D48"/>
                          </a:solidFill>
                        </a:defRPr>
                      </a:pPr>
                      <a:r>
                        <a:t>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20624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48.2%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Policy Risk Weight Importance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Most predictive signal: corporate classification of provider authorization.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420624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24.5%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Bandwidth Exfiltration Importance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Secondary predictor: anomalous burst in outbound payload bytes.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420624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&lt; 1ms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Inference Latency Per Record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Sub-millisecond scoring allows line-speed packet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SOC DECISION SUPPORT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Deterministic Explainable AI (XAI)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The 4 Pillars of SOC Analyst Transparency: Every alert is fully auditable.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Itemized Score Breakdown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Analysts see exact points added: +50 for unapproved status, +25 for bandwidth surge, +15 for high Shannon entropy.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663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1072" y="182880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Observed Behavioral Evidence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Direct telemetry evidence: destination domain (api.deepseek.com), device ID, outbound volume (64 MB), and protocol.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1828800"/>
            <a:ext cx="51663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Missing Evidence Disclosures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Transparently informs analysts that payload contents are TLS encrypted without making false claims of prompt snooping.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51663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1072" y="420624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4. Actionable Remediation Guidance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Step-by-step SOC triage actions: isolate workstation, update egress firewall rule, and conduct employee interview.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4206240"/>
            <a:ext cx="51663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ENTERPRISE GOVERNANCE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Zero-Trust Identity, Roles &amp; Defensive Engineering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Hardened security architecture following OWASP and NIST AI RMF guidelines.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👑 Administrator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Full authority: Approve/reject pending analysts, modify corporate AI policy rules, and update provider catalogs.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375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🛡️ Security Analyst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Operational access: Ingest network telemetry logs, triage alerts, record investigation notes, and retrain models.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828800"/>
            <a:ext cx="33375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👁️ Auditor / Viewer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Read-only compliance access: Inspect dashboards, review audit trails, and export sanitized CSV executive reports.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828800"/>
            <a:ext cx="33375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🔒 Cryptographic Security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Passwords salted and hashed using bcrypt with 12 rounds. Stateless authentication powered by signed HS256 JWT tokens with automatic token expiration.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51663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420624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🛡️ OWASP CSV Injection Defense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All CSV exports automatically sanitize formula characters (=, +, -, @) with quote prefixes to prevent client-side spreadsheet formula execution attacks.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4206240"/>
            <a:ext cx="516636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RESULTS &amp; TELEMETRY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Verified Benchmark Dataset Results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Live evaluation metrics across 3,400 synthetic enterprise network events.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3,400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Ingested Events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Total synthetic network telemetry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3008" y="182880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2,552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AI Matches (75.1%)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Identified generative AI traffic.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82880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E11D48"/>
                </a:solidFill>
              </a:defRPr>
            </a:pPr>
            <a:r>
              <a:t>1,378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Violations (40.5%)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Unapproved Shadow AI interactions.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5984" y="182880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D97706"/>
                </a:solidFill>
              </a:defRPr>
            </a:pPr>
            <a:r>
              <a:t>1,949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Alerts Generated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Prioritized incident triage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📈 Top Detected Shadow AI Services in Network Logs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DeepSeek: 343 requests (High exfiltration risk)</a:t>
            </a:r>
            <a:br/>
            <a:r>
              <a:t>• Perplexity AI: 329 requests (Research data searches)</a:t>
            </a:r>
            <a:br/>
            <a:r>
              <a:t>• Anthropic / Claude: 310 requests (Source code analysis)</a:t>
            </a:r>
            <a:br/>
            <a:r>
              <a:t>• OpenAI / ChatGPT: 286 requests (General enterprise prompts)</a:t>
            </a:r>
            <a:br/>
            <a:r>
              <a:t>• GitHub Copilot: 231 requests (IDE completion telemetry)</a:t>
            </a:r>
            <a:br/>
            <a:r>
              <a:t>• Cursor IDE: 217 requests (Full codebase indexing uploads)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1072865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CLOUD DEPLOYMENT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Production Full-Stack Cloud Infrastructure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Live, scalable cloud architecture deployed with zero single points of failure.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663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🌐 Frontend Edge Deployment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Platform: Vercel Global Edge CDN</a:t>
            </a:r>
            <a:br/>
            <a:r>
              <a:t>• Stack: React 19, TypeScript, Vite, Tailwind CSS v4</a:t>
            </a:r>
            <a:br/>
            <a:r>
              <a:t>• Routing: Edge Proxy rewrite to backend eliminates CORS</a:t>
            </a:r>
            <a:br/>
            <a:r>
              <a:t>• Live URL: https://shadow-ai-detector-chi.vercel.app</a:t>
            </a:r>
            <a:br/>
            <a:r>
              <a:t>• Features: Dynamic Dark/Light HUD, Recharts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663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1072" y="1828800"/>
            <a:ext cx="51663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⚙️ Backend API &amp; Database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Platform: Render Cloud Web Service</a:t>
            </a:r>
            <a:br/>
            <a:r>
              <a:t>• Stack: Python 3.14, FastAPI, Uvicorn ASGI Server</a:t>
            </a:r>
            <a:br/>
            <a:r>
              <a:t>• Persistence: Multi-engine SQLAlchemy (MySQL 8.x + SQLite)</a:t>
            </a:r>
            <a:br/>
            <a:r>
              <a:t>• API Docs: https://shadow-ai-detector.onrender.com/docs</a:t>
            </a:r>
            <a:br/>
            <a:r>
              <a:t>• Throughput: 10,000+ events/sec batch ingestion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1828800"/>
            <a:ext cx="51663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✅ 100% Automated Test Suite Passing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17 unit, integration, and security test suites verified with Pytest and FastAPI TestClient with zero failures.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865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CONSOLE MODULES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Core Modules in the Security Console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A unified HUD designed for rapid Security Operations Center (SOC) triage.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📊 Security Dashboard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High-level threat KPIs, risk distribution graphs, and AI provider pie charts.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29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🔎 Event Explorer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Deep telemetry search by device ID, FQDN, Shannon entropy, and byte ratios.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828800"/>
            <a:ext cx="3429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🚨 Alert Center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Triage workspace with itemized score cards and persistent investigation notes.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828800"/>
            <a:ext cx="3429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🗂️ AI Catalog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Curated registry of recognized AI providers, active domain regexes, and badges.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3429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5696" y="41148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⚖️ Policy Manager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Administrative interface to dynamically toggle rules between Approved and Unapproved.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4114800"/>
            <a:ext cx="3429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9872" y="411480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🤖 ML Status &amp; Benchmark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Live model evaluation dashboard showing confusion matrices and ROC curves.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4114800"/>
            <a:ext cx="3429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COMPETITIVE DIFFERENTIATION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Why Shadow AI Detector Wins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A purpose-built solution that outperforms generic legacy security tools.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2286000"/>
                <a:gridCol w="3230575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Feature / Dimension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Legacy Firewalls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Generic SIEMs (Splunk)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Shadow AI Detector (Our Solution)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AI Domain Catalog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❌ Generic DNS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⚠️ Manual queries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Curated &amp; Automated AI Catalog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Entropy &amp; Exfiltration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❌ Not calculated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⚠️ High setup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Real-Time Shannon Entropy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Detection Methodology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❌ Static IP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❌ Black-box / raw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Hybrid: Policy + ML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SOC Explainability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⚠️ Unstructured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Itemized Scoring &amp; Remediation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Deployment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❌ Weeks /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❌ Days of pipeline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Under 5 Minutes (Cloud-Native)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FUTURE ROADMAP &amp; IMPACT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Securing Enterprise AI Adoption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</a:defRPr>
            </a:pPr>
            <a:r>
              <a:t>Empowering organizations to adopt generative AI safely and compliantly.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🚀 Phase 1 (Completed)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Telemetry discovery pipeline</a:t>
            </a:r>
            <a:br/>
            <a:r>
              <a:t>• Shannon entropy risk scoring</a:t>
            </a:r>
            <a:br/>
            <a:r>
              <a:t>• 99.88% ML classification</a:t>
            </a:r>
            <a:br/>
            <a:r>
              <a:t>• Live Vercel &amp; Render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375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🔗 Phase 2 (Q3 2026)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SIEM &amp; SOAR webhooks</a:t>
            </a:r>
            <a:br/>
            <a:r>
              <a:t>• Splunk &amp; Microsoft Sentinel apps</a:t>
            </a:r>
            <a:br/>
            <a:r>
              <a:t>• Automated egress firewall sync</a:t>
            </a:r>
            <a:br/>
            <a:r>
              <a:t>• Active Directory user sync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828800"/>
            <a:ext cx="33375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337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🛡️ Phase 3 (Q4 2026)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Kernel-level eBPF lightweight agent</a:t>
            </a:r>
            <a:br/>
            <a:r>
              <a:t>• Process socket attribution</a:t>
            </a:r>
            <a:br/>
            <a:r>
              <a:t>• Automated DLP prompt sandboxing</a:t>
            </a:r>
            <a:br/>
            <a:r>
              <a:t>• ISO 42001 compliance reporting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828800"/>
            <a:ext cx="33375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7286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Ready to Experience Shadow AI Detector Live?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Live Web App: https://shadow-ai-detector-chi.vercel.app</a:t>
            </a:r>
            <a:br/>
            <a:r>
              <a:t>API Docs: https://shadow-ai-detector.onrender.com/docs</a:t>
            </a:r>
            <a:br/>
            <a:br/>
            <a:r>
              <a:t>Thank you, Jury Panel! We welcome your questions.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1072865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